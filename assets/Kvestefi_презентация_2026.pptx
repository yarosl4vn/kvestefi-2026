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4FD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1" sz="1600">
                <a:solidFill>
                  <a:srgbClr val="4FD8C8"/>
                </a:solidFill>
                <a:latin typeface="Segoe UI"/>
              </a:rPr>
              <a:t>ВСЕРОССИЙСКИЙ ХАКАТОН ПО ИНФОРМАЦИОННЫМ ТЕХНОЛОГИЯМ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b="1" sz="5400">
                <a:solidFill>
                  <a:srgbClr val="F3F1FA"/>
                </a:solidFill>
                <a:latin typeface="Segoe UI"/>
              </a:rPr>
              <a:t>Квестефи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2000">
                <a:solidFill>
                  <a:srgbClr val="A78BFA"/>
                </a:solidFill>
                <a:latin typeface="Segoe UI"/>
              </a:rPr>
              <a:t>Мобильное приложение для подготовки к ОГЭ и ЕГЭ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b="1" sz="1600">
                <a:solidFill>
                  <a:srgbClr val="A78BFA"/>
                </a:solidFill>
                <a:latin typeface="Segoe UI"/>
              </a:rPr>
              <a:t>Направление</a:t>
            </a:r>
            <a:r>
              <a:rPr b="0" sz="1600">
                <a:solidFill>
                  <a:srgbClr val="E2DFEE"/>
                </a:solidFill>
                <a:latin typeface="Segoe UI"/>
              </a:rPr>
              <a:t>: Мобильная разработка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b="1" sz="1600">
                <a:solidFill>
                  <a:srgbClr val="A78BFA"/>
                </a:solidFill>
                <a:latin typeface="Segoe UI"/>
              </a:rPr>
              <a:t>Команда</a:t>
            </a:r>
            <a:r>
              <a:rPr b="0" sz="1600">
                <a:solidFill>
                  <a:srgbClr val="E2DFEE"/>
                </a:solidFill>
                <a:latin typeface="Segoe UI"/>
              </a:rPr>
              <a:t>: ReadySquad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b="1" sz="1600">
                <a:solidFill>
                  <a:srgbClr val="A78BFA"/>
                </a:solidFill>
                <a:latin typeface="Segoe UI"/>
              </a:rPr>
              <a:t>Участники</a:t>
            </a:r>
            <a:r>
              <a:rPr b="0" sz="1600">
                <a:solidFill>
                  <a:srgbClr val="E2DFEE"/>
                </a:solidFill>
                <a:latin typeface="Segoe UI"/>
              </a:rPr>
              <a:t>: Акинфиев Ярослав Артемьевич — лидер команды, главный разработчик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b="0" sz="1600">
                <a:solidFill>
                  <a:srgbClr val="E2DFEE"/>
                </a:solidFill>
                <a:latin typeface="Segoe UI"/>
              </a:rPr>
              <a:t>Давлатов Хайдарали Абдулхамидович — разработчик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1" sz="1600">
                <a:solidFill>
                  <a:srgbClr val="A78BFA"/>
                </a:solidFill>
                <a:latin typeface="Segoe UI"/>
              </a:rPr>
              <a:t>Наставник</a:t>
            </a:r>
            <a:r>
              <a:rPr b="0" sz="1600">
                <a:solidFill>
                  <a:srgbClr val="E2DFEE"/>
                </a:solidFill>
                <a:latin typeface="Segoe UI"/>
              </a:rPr>
              <a:t>: Усенкова Жанна Михайловна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9E98B5"/>
                </a:solidFill>
                <a:latin typeface="Segoe UI"/>
              </a:rPr>
              <a:t>Kotlin · Material 3 · Android 7.0+ · SQLite · версия 4.0.0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1" sz="2800">
                <a:solidFill>
                  <a:srgbClr val="F3F1FA"/>
                </a:solidFill>
                <a:latin typeface="Segoe UI"/>
              </a:rPr>
              <a:t>Цели и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4572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4FD8C8"/>
                </a:solidFill>
                <a:latin typeface="Segoe UI"/>
              </a:rPr>
              <a:t>Слайд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908792" cy="27432"/>
          </a:xfrm>
          <a:prstGeom prst="rect">
            <a:avLst/>
          </a:prstGeom>
          <a:solidFill>
            <a:srgbClr val="1E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9E98B5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2578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b="1" sz="1500">
                <a:solidFill>
                  <a:srgbClr val="4FD8C8"/>
                </a:solidFill>
                <a:latin typeface="Segoe UI"/>
              </a:rPr>
              <a:t>ПРОБЛЕМА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Подготовка к ОГЭ и ЕГЭ разорвана на части: задания — в одном месте, статистика — в другом, связь с учителем — в мессенджерах. Нет одного мобильного приложения, которое даёт реальные экзаменационные задания, мотивирует и связывает учителя с классом.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b="1" sz="1500">
                <a:solidFill>
                  <a:srgbClr val="4FD8C8"/>
                </a:solidFill>
                <a:latin typeface="Segoe UI"/>
              </a:rPr>
              <a:t>ЦЕЛЬ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Сделать подготовку к ОГЭ и ЕГЭ удобной и мотивирующей и связать ученика, учителя и родителей в одном приложении, которое работает даже без интернета.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280160"/>
            <a:ext cx="530352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b="1" sz="1500">
                <a:solidFill>
                  <a:srgbClr val="4FD8C8"/>
                </a:solidFill>
                <a:latin typeface="Segoe UI"/>
              </a:rPr>
              <a:t>ЗАДАЧИ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Собрать банк реальных заданий ОГЭ и ЕГЭ из онлайн-банка — задания запрашиваются в момент решения и идут со ссылкой на источник.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Добавить 209 встроенных заданий (154 базовых и 55 сложных) и генератор заданий, который считает ответ кодом.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Сделать 11 предметов и повторение тем по 45 карточкам-шпаргалкам.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Добавить игровую мотивацию: очки, серия дней, 22 достижения, рейтинг класса, цель на неделю.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Дать учителю выдачу задания выбранному классу, список класса и отчёты с выгрузкой.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Обеспечить офлайн-работу: 6 из 11 предметов полностью встроены, онлайн-задания кешируются.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Реализовать режимы: «Задание дня», пробный экзамен на 20 заданий, работа над ошибками, адаптивная сложность.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Проверить приложение на эмуляторе Android 14 и выпустить версию 4.0.0.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1" sz="2800">
                <a:solidFill>
                  <a:srgbClr val="F3F1FA"/>
                </a:solidFill>
                <a:latin typeface="Segoe UI"/>
              </a:rPr>
              <a:t>Анализ аналогов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4572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4FD8C8"/>
                </a:solidFill>
                <a:latin typeface="Segoe UI"/>
              </a:rPr>
              <a:t>Слайд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908792" cy="27432"/>
          </a:xfrm>
          <a:prstGeom prst="rect">
            <a:avLst/>
          </a:prstGeom>
          <a:solidFill>
            <a:srgbClr val="1E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9E98B5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0879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1" sz="1500">
                <a:solidFill>
                  <a:srgbClr val="4FD8C8"/>
                </a:solidFill>
                <a:latin typeface="Segoe UI"/>
              </a:rPr>
              <a:t>Существующие решения и их недостатки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1" sz="1400">
                <a:solidFill>
                  <a:srgbClr val="A78BFA"/>
                </a:solidFill>
                <a:latin typeface="Segoe UI"/>
              </a:rPr>
              <a:t>•  Решу ОГЭ / Решу ЕГЭ (сайт)</a:t>
            </a:r>
            <a:r>
              <a:rPr b="0" sz="1400">
                <a:solidFill>
                  <a:srgbClr val="E2DFEE"/>
                </a:solidFill>
                <a:latin typeface="Segoe UI"/>
              </a:rPr>
              <a:t> — Большой банк реальных заданий, но это только браузер: нет мобильного приложения, нет игровой мотивации, статистики на устройстве и связи «учитель — класс».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1" sz="1400">
                <a:solidFill>
                  <a:srgbClr val="A78BFA"/>
                </a:solidFill>
                <a:latin typeface="Segoe UI"/>
              </a:rPr>
              <a:t>•  ЯКласс, Учи.ру</a:t>
            </a:r>
            <a:r>
              <a:rPr b="0" sz="1400">
                <a:solidFill>
                  <a:srgbClr val="E2DFEE"/>
                </a:solidFill>
                <a:latin typeface="Segoe UI"/>
              </a:rPr>
              <a:t> — Школьные платформы по подписке и с обязательным интернетом. Ориентированы на урок, а не на самостоятельную подготовку в телефоне.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1" sz="1400">
                <a:solidFill>
                  <a:srgbClr val="A78BFA"/>
                </a:solidFill>
                <a:latin typeface="Segoe UI"/>
              </a:rPr>
              <a:t>•  Duolingo, Quizlet</a:t>
            </a:r>
            <a:r>
              <a:rPr b="0" sz="1400">
                <a:solidFill>
                  <a:srgbClr val="E2DFEE"/>
                </a:solidFill>
                <a:latin typeface="Segoe UI"/>
              </a:rPr>
              <a:t> — Отличная геймификация, но нет программы ОГЭ и ЕГЭ: задания не совпадают с тем, что реально спрашивают на экзамене.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1" sz="1400">
                <a:solidFill>
                  <a:srgbClr val="A78BFA"/>
                </a:solidFill>
                <a:latin typeface="Segoe UI"/>
              </a:rPr>
              <a:t>•  Бумажные сборники и приложения-тренажёры</a:t>
            </a:r>
            <a:r>
              <a:rPr b="0" sz="1400">
                <a:solidFill>
                  <a:srgbClr val="E2DFEE"/>
                </a:solidFill>
                <a:latin typeface="Segoe UI"/>
              </a:rPr>
              <a:t> — Привычны, но нет автоматической проверки, статистики и понимания слабых тем ученика.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1" sz="1400">
                <a:solidFill>
                  <a:srgbClr val="A78BFA"/>
                </a:solidFill>
                <a:latin typeface="Segoe UI"/>
              </a:rPr>
              <a:t>•  Приложения без работы учителя</a:t>
            </a:r>
            <a:r>
              <a:rPr b="0" sz="1400">
                <a:solidFill>
                  <a:srgbClr val="E2DFEE"/>
                </a:solidFill>
                <a:latin typeface="Segoe UI"/>
              </a:rPr>
              <a:t> — Дают задания, но учитель не может выдать работу классу и получить отчёт: результат остаётся внутри одного устройства.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b="1" sz="1400">
                <a:solidFill>
                  <a:srgbClr val="A78BFA"/>
                </a:solidFill>
                <a:latin typeface="Segoe UI"/>
              </a:rPr>
              <a:t>Вывод</a:t>
            </a:r>
            <a:r>
              <a:rPr b="0" sz="1400">
                <a:solidFill>
                  <a:srgbClr val="E2DFEE"/>
                </a:solidFill>
                <a:latin typeface="Segoe UI"/>
              </a:rPr>
              <a:t>: сильная сторона есть у каждой группы, но ни одно решение не даёт одновременно реальные задания, игровую мотивацию и работу учителя с классом в одном офлайн-приложении.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1" sz="2800">
                <a:solidFill>
                  <a:srgbClr val="F3F1FA"/>
                </a:solidFill>
                <a:latin typeface="Segoe UI"/>
              </a:rPr>
              <a:t>Конкурентные преимущества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4572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4FD8C8"/>
                </a:solidFill>
                <a:latin typeface="Segoe UI"/>
              </a:rPr>
              <a:t>Слайд 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908792" cy="27432"/>
          </a:xfrm>
          <a:prstGeom prst="rect">
            <a:avLst/>
          </a:prstGeom>
          <a:solidFill>
            <a:srgbClr val="1E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9E98B5"/>
                </a:solidFill>
                <a:latin typeface="Segoe U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0879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b="1" sz="1400">
                <a:solidFill>
                  <a:srgbClr val="A78BFA"/>
                </a:solidFill>
                <a:latin typeface="Segoe UI"/>
              </a:rPr>
              <a:t>•  Реальные задания, а не выдуманные</a:t>
            </a:r>
            <a:r>
              <a:rPr b="0" sz="1400">
                <a:solidFill>
                  <a:srgbClr val="E2DFEE"/>
                </a:solidFill>
                <a:latin typeface="Segoe UI"/>
              </a:rPr>
              <a:t> — онлайн-банк заданий ОГЭ и ЕГЭ по 9 предметам с разбором и ссылкой на источник, плюс 209 встроенных заданий и генератор, который считает ответ кодом.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b="1" sz="1400">
                <a:solidFill>
                  <a:srgbClr val="A78BFA"/>
                </a:solidFill>
                <a:latin typeface="Segoe UI"/>
              </a:rPr>
              <a:t>•  Работает офлайн</a:t>
            </a:r>
            <a:r>
              <a:rPr b="0" sz="1400">
                <a:solidFill>
                  <a:srgbClr val="E2DFEE"/>
                </a:solidFill>
                <a:latin typeface="Segoe UI"/>
              </a:rPr>
              <a:t> — 6 из 11 предметов полностью встроены; постоянный кэш онлайн-задач позволяет решать реальные задания без интернета — приложение честно подписывает набор «сохранённые задания».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b="1" sz="1400">
                <a:solidFill>
                  <a:srgbClr val="A78BFA"/>
                </a:solidFill>
                <a:latin typeface="Segoe UI"/>
              </a:rPr>
              <a:t>•  Готовность к экзамену, а не просто тренажёр</a:t>
            </a:r>
            <a:r>
              <a:rPr b="0" sz="1400">
                <a:solidFill>
                  <a:srgbClr val="E2DFEE"/>
                </a:solidFill>
                <a:latin typeface="Segoe UI"/>
              </a:rPr>
              <a:t> — пробный экзамен на 20 заданий, режим экзамена, работа над ошибками и адаптивная сложность: точность 80% и выше — задания сложнее, 40% и ниже — проще.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b="1" sz="1400">
                <a:solidFill>
                  <a:srgbClr val="A78BFA"/>
                </a:solidFill>
                <a:latin typeface="Segoe UI"/>
              </a:rPr>
              <a:t>•  Игровая мотивация</a:t>
            </a:r>
            <a:r>
              <a:rPr b="0" sz="1400">
                <a:solidFill>
                  <a:srgbClr val="E2DFEE"/>
                </a:solidFill>
                <a:latin typeface="Segoe UI"/>
              </a:rPr>
              <a:t> — очки, серия дней, 22 достижения, рейтинг класса, цель на неделю и 7 цветовых тем приложения.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b="1" sz="1400">
                <a:solidFill>
                  <a:srgbClr val="A78BFA"/>
                </a:solidFill>
                <a:latin typeface="Segoe UI"/>
              </a:rPr>
              <a:t>•  Работа учителя внутри приложения</a:t>
            </a:r>
            <a:r>
              <a:rPr b="0" sz="1400">
                <a:solidFill>
                  <a:srgbClr val="E2DFEE"/>
                </a:solidFill>
                <a:latin typeface="Segoe UI"/>
              </a:rPr>
              <a:t> — выдача задания выбранному классу, список класса, отчёты по классу с выгрузкой и отчёт о прогрессе для родителей.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b="1" sz="1400">
                <a:solidFill>
                  <a:srgbClr val="A78BFA"/>
                </a:solidFill>
                <a:latin typeface="Segoe UI"/>
              </a:rPr>
              <a:t>•  Уникальная ценность</a:t>
            </a:r>
            <a:r>
              <a:rPr b="0" sz="1400">
                <a:solidFill>
                  <a:srgbClr val="E2DFEE"/>
                </a:solidFill>
                <a:latin typeface="Segoe UI"/>
              </a:rPr>
              <a:t> — ученик, учитель, классный руководитель и администрация школы в одном бесплатном приложении, которому не нужен общий сервер и постоянный интернет.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1" sz="2800">
                <a:solidFill>
                  <a:srgbClr val="F3F1FA"/>
                </a:solidFill>
                <a:latin typeface="Segoe UI"/>
              </a:rPr>
              <a:t>Этапы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4572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4FD8C8"/>
                </a:solidFill>
                <a:latin typeface="Segoe UI"/>
              </a:rPr>
              <a:t>Слайд 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908792" cy="27432"/>
          </a:xfrm>
          <a:prstGeom prst="rect">
            <a:avLst/>
          </a:prstGeom>
          <a:solidFill>
            <a:srgbClr val="1E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9E98B5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603504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500">
                <a:solidFill>
                  <a:srgbClr val="4FD8C8"/>
                </a:solidFill>
                <a:latin typeface="Segoe UI"/>
              </a:rPr>
              <a:t>ДОРОЖНАЯ КАРТА (7 ЭТАПОВ)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День 1 — анализ и проектирование: требования Положения, схема экранов, роли пользователей, структура базы данных.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День 2 — ядро приложения: регистрация и вход, профиль, 11 предметов, квест с проверкой ответов, очки и серия дней.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День 3 — банк заданий: 209 встроенных заданий (154 базовых и 55 сложных) и генератор заданий с подсчётом ответа кодом.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День 4 — онлайн-банк: реальные задания ОГЭ и ЕГЭ по 9 предметам, постоянный кэш и офлайн-режим.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День 5 — учительская часть: выдача задания классу, список класса, отчёты с выгрузкой, отчёт для родителей.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День 6 — режимы и мотивация: «Задание дня», пробный экзамен, работа над ошибками, адаптивная сложность, 45 карточек-шпаргалок, 22 достижения.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День 7 — тестирование и релиз: прогон всех 15 активностей на эмуляторе Android 14, аудит кода, сборка версии 4.0.0.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280160"/>
            <a:ext cx="4690872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500">
                <a:solidFill>
                  <a:srgbClr val="4FD8C8"/>
                </a:solidFill>
                <a:latin typeface="Segoe UI"/>
              </a:rPr>
              <a:t>РАСПРЕДЕЛЕНИЕ ЗАДАЧ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b="1" sz="1400">
                <a:solidFill>
                  <a:srgbClr val="A78BFA"/>
                </a:solidFill>
                <a:latin typeface="Segoe UI"/>
              </a:rPr>
              <a:t>Акинфиев Я. А.</a:t>
            </a:r>
            <a:r>
              <a:rPr b="0" sz="1400">
                <a:solidFill>
                  <a:srgbClr val="E2DFEE"/>
                </a:solidFill>
                <a:latin typeface="Segoe UI"/>
              </a:rPr>
              <a:t> — архитектура, ядро приложения, банк заданий и онлайн-источник, режимы квестов, сборка и релиз.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b="1" sz="1400">
                <a:solidFill>
                  <a:srgbClr val="A78BFA"/>
                </a:solidFill>
                <a:latin typeface="Segoe UI"/>
              </a:rPr>
              <a:t>Давлатов Х. А.</a:t>
            </a:r>
            <a:r>
              <a:rPr b="0" sz="1400">
                <a:solidFill>
                  <a:srgbClr val="E2DFEE"/>
                </a:solidFill>
                <a:latin typeface="Segoe UI"/>
              </a:rPr>
              <a:t> — экраны и оформление, наполнение заданиями и шпаргалками, тестирование сценариев ученика и учителя.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b="1" sz="1400">
                <a:solidFill>
                  <a:srgbClr val="A78BFA"/>
                </a:solidFill>
                <a:latin typeface="Segoe UI"/>
              </a:rPr>
              <a:t>Наставник Усенкова Ж. М.</a:t>
            </a:r>
            <a:r>
              <a:rPr b="0" sz="1400">
                <a:solidFill>
                  <a:srgbClr val="E2DFEE"/>
                </a:solidFill>
                <a:latin typeface="Segoe UI"/>
              </a:rPr>
              <a:t> — постановка задач, планирование этапов, проверка соответствия требованиям и приёмка результата.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500">
                <a:solidFill>
                  <a:srgbClr val="4FD8C8"/>
                </a:solidFill>
                <a:latin typeface="Segoe UI"/>
              </a:rPr>
              <a:t>ИНСТРУМЕНТЫ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Kotlin, Android Studio, Material 3, Gradle 8.2, JDK 17, SQLite, Git и GitHub, эмулятор Android 14.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1" sz="2800">
                <a:solidFill>
                  <a:srgbClr val="F3F1FA"/>
                </a:solidFill>
                <a:latin typeface="Segoe UI"/>
              </a:rPr>
              <a:t>Фотографии прототипа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4572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4FD8C8"/>
                </a:solidFill>
                <a:latin typeface="Segoe UI"/>
              </a:rPr>
              <a:t>Слайд 5 · скриншоты приложения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908792" cy="27432"/>
          </a:xfrm>
          <a:prstGeom prst="rect">
            <a:avLst/>
          </a:prstGeom>
          <a:solidFill>
            <a:srgbClr val="1E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9E98B5"/>
                </a:solidFill>
                <a:latin typeface="Segoe UI"/>
              </a:rPr>
              <a:t>5</a:t>
            </a:r>
          </a:p>
        </p:txBody>
      </p:sp>
      <p:pic>
        <p:nvPicPr>
          <p:cNvPr id="7" name="Picture 6" descr="emu-34-reg-3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773" y="1298448"/>
            <a:ext cx="1933956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1773" y="5669280"/>
            <a:ext cx="193395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Регистрация: роль, класс и школа — аккаунт сразу.</a:t>
            </a:r>
          </a:p>
        </p:txBody>
      </p:sp>
      <p:pic>
        <p:nvPicPr>
          <p:cNvPr id="9" name="Picture 8" descr="emu-28-home-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0321" y="1298448"/>
            <a:ext cx="1933956" cy="4297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30321" y="5669280"/>
            <a:ext cx="193395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Главный экран: уровень, серия дней, цель недели.</a:t>
            </a:r>
          </a:p>
        </p:txBody>
      </p:sp>
      <p:pic>
        <p:nvPicPr>
          <p:cNvPr id="11" name="Picture 10" descr="emu-7-qui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8869" y="1298448"/>
            <a:ext cx="1933956" cy="4297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28869" y="5669280"/>
            <a:ext cx="193395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Квест: реальное задание ОГЭ из онлайн-банка.</a:t>
            </a:r>
          </a:p>
        </p:txBody>
      </p:sp>
      <p:pic>
        <p:nvPicPr>
          <p:cNvPr id="13" name="Picture 12" descr="emu-12-fini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7417" y="1298448"/>
            <a:ext cx="1933956" cy="4297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7417" y="5669280"/>
            <a:ext cx="193395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Результат квеста: очки и разбор заданий.</a:t>
            </a:r>
          </a:p>
        </p:txBody>
      </p:sp>
      <p:pic>
        <p:nvPicPr>
          <p:cNvPr id="15" name="Picture 14" descr="emu-43-AssignActiv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5965" y="1298448"/>
            <a:ext cx="1933956" cy="42976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325965" y="5669280"/>
            <a:ext cx="193395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Учитель: выдача задания классу школы.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1" sz="2800">
                <a:solidFill>
                  <a:srgbClr val="F3F1FA"/>
                </a:solidFill>
                <a:latin typeface="Segoe UI"/>
              </a:rPr>
              <a:t>Команда и роли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4572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4FD8C8"/>
                </a:solidFill>
                <a:latin typeface="Segoe UI"/>
              </a:rPr>
              <a:t>Слайд 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908792" cy="27432"/>
          </a:xfrm>
          <a:prstGeom prst="rect">
            <a:avLst/>
          </a:prstGeom>
          <a:solidFill>
            <a:srgbClr val="1E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9E98B5"/>
                </a:solidFill>
                <a:latin typeface="Segoe 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08792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b="1" sz="1600">
                <a:solidFill>
                  <a:srgbClr val="A78BFA"/>
                </a:solidFill>
                <a:latin typeface="Segoe UI"/>
              </a:rPr>
              <a:t>Акинфиев Ярослав Артемьевич</a:t>
            </a:r>
            <a:r>
              <a:rPr b="0" sz="1600">
                <a:solidFill>
                  <a:srgbClr val="E2DFEE"/>
                </a:solidFill>
                <a:latin typeface="Segoe UI"/>
              </a:rPr>
              <a:t> — лидер команды, главный разработчик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Архитектура приложения, ядро (регистрация, вход, профиль, квесты), банк заданий и работа с онлайн-источником, режимы пробного экзамена и работы над ошибками, сборка и релиз версии 4.0.0.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b="1" sz="1600">
                <a:solidFill>
                  <a:srgbClr val="A78BFA"/>
                </a:solidFill>
                <a:latin typeface="Segoe UI"/>
              </a:rPr>
              <a:t>Давлатов Хайдарали Абдулхамидович</a:t>
            </a:r>
            <a:r>
              <a:rPr b="0" sz="1600">
                <a:solidFill>
                  <a:srgbClr val="E2DFEE"/>
                </a:solidFill>
                <a:latin typeface="Segoe UI"/>
              </a:rPr>
              <a:t> — разработчик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Экраны и оформление интерфейса (Material 3, 7 цветовых тем), наполнение 11 предметов заданиями и шпаргалками, тестирование сценариев ученика, учителя и классного руководителя.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b="1" sz="1600">
                <a:solidFill>
                  <a:srgbClr val="A78BFA"/>
                </a:solidFill>
                <a:latin typeface="Segoe UI"/>
              </a:rPr>
              <a:t>Усенкова Жанна Михайловна</a:t>
            </a:r>
            <a:r>
              <a:rPr b="0" sz="1600">
                <a:solidFill>
                  <a:srgbClr val="E2DFEE"/>
                </a:solidFill>
                <a:latin typeface="Segoe UI"/>
              </a:rPr>
              <a:t> — наставник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Постановка задач и планирование этапов, проверка соответствия проекта требованиям Положения хакатона, приёмка результата и подготовка защиты.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500">
                <a:solidFill>
                  <a:srgbClr val="4FD8C8"/>
                </a:solidFill>
                <a:latin typeface="Segoe UI"/>
              </a:rPr>
              <a:t>Вклад команды в результат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Двое участников и наставник: от проектирования и кода до тестирования на эмуляторе Android 14 и выпуска версии 4.0.0 с 11 предметами, 209 встроенными заданиями, онлайн-банком реальных заданий и учительской частью.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1" sz="2800">
                <a:solidFill>
                  <a:srgbClr val="F3F1FA"/>
                </a:solidFill>
                <a:latin typeface="Segoe UI"/>
              </a:rPr>
              <a:t>Архитектура приложения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4572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4FD8C8"/>
                </a:solidFill>
                <a:latin typeface="Segoe UI"/>
              </a:rPr>
              <a:t>Слайд 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908792" cy="27432"/>
          </a:xfrm>
          <a:prstGeom prst="rect">
            <a:avLst/>
          </a:prstGeom>
          <a:solidFill>
            <a:srgbClr val="1E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9E98B5"/>
                </a:solidFill>
                <a:latin typeface="Segoe U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39496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500">
                <a:solidFill>
                  <a:srgbClr val="4FD8C8"/>
                </a:solidFill>
                <a:latin typeface="Segoe UI"/>
              </a:rPr>
              <a:t>СЛОИ ПРИЛОЖЕНИЯ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Экраны (Activity и Fragment) — 15 активностей, Material 3 и XML-вёрстка.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Логика разделов: квесты, обучение, результаты, достижения, профиль, учительская часть.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Слой данных: репозиторий с запросами к базе, поля читаются по именам колонок.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Локальное хранение: SQLite (схема версии 23) и SharedPreferences для профиля, палитры и серии дней.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Сеть: HTTP-клиент для онлайн-банка реальных заданий и загрузки рисунков.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Источник заданий подключается через интерфейс TaskSource — свой банк можно добавить без переделки приложения.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5239512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500">
                <a:solidFill>
                  <a:srgbClr val="4FD8C8"/>
                </a:solidFill>
                <a:latin typeface="Segoe UI"/>
              </a:rPr>
              <a:t>КАК ПРИНИМАЮТСЯ РЕШЕНИЯ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b="1" sz="1400">
                <a:solidFill>
                  <a:srgbClr val="A78BFA"/>
                </a:solidFill>
                <a:latin typeface="Segoe UI"/>
              </a:rPr>
              <a:t>Почему приложение, а не сайт</a:t>
            </a:r>
            <a:r>
              <a:rPr b="0" sz="1400">
                <a:solidFill>
                  <a:srgbClr val="E2DFEE"/>
                </a:solidFill>
                <a:latin typeface="Segoe UI"/>
              </a:rPr>
              <a:t>: работает мгновенно и без интернета, прогресс хранится на устройстве, не требуется общий сервер.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b="1" sz="1400">
                <a:solidFill>
                  <a:srgbClr val="A78BFA"/>
                </a:solidFill>
                <a:latin typeface="Segoe UI"/>
              </a:rPr>
              <a:t>Почему данные на устройстве</a:t>
            </a:r>
            <a:r>
              <a:rPr b="0" sz="1400">
                <a:solidFill>
                  <a:srgbClr val="E2DFEE"/>
                </a:solidFill>
                <a:latin typeface="Segoe UI"/>
              </a:rPr>
              <a:t>: аккаунты и результаты лежат локально — это быстро и приватно, приложение остаётся автономным.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b="1" sz="1400">
                <a:solidFill>
                  <a:srgbClr val="A78BFA"/>
                </a:solidFill>
                <a:latin typeface="Segoe UI"/>
              </a:rPr>
              <a:t>Почему кэш онлайн-задач</a:t>
            </a:r>
            <a:r>
              <a:rPr b="0" sz="1400">
                <a:solidFill>
                  <a:srgbClr val="E2DFEE"/>
                </a:solidFill>
                <a:latin typeface="Segoe UI"/>
              </a:rPr>
              <a:t>: скачанные реальные задания сохраняются в базе, поэтому квест по ним открывается и без сети.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1" sz="1400">
                <a:solidFill>
                  <a:srgbClr val="A78BFA"/>
                </a:solidFill>
                <a:latin typeface="Segoe UI"/>
              </a:rPr>
              <a:t>Почему офлайн-банк</a:t>
            </a:r>
            <a:r>
              <a:rPr b="0" sz="1400">
                <a:solidFill>
                  <a:srgbClr val="E2DFEE"/>
                </a:solidFill>
                <a:latin typeface="Segoe UI"/>
              </a:rPr>
              <a:t>: 6 из 11 предметов полностью встроены, при отсутствии сети приложение честно сообщает, что набор встроенный.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1" sz="2800">
                <a:solidFill>
                  <a:srgbClr val="F3F1FA"/>
                </a:solidFill>
                <a:latin typeface="Segoe UI"/>
              </a:rPr>
              <a:t>База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4572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4FD8C8"/>
                </a:solidFill>
                <a:latin typeface="Segoe UI"/>
              </a:rPr>
              <a:t>Слайд 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908792" cy="27432"/>
          </a:xfrm>
          <a:prstGeom prst="rect">
            <a:avLst/>
          </a:prstGeom>
          <a:solidFill>
            <a:srgbClr val="1E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9E98B5"/>
                </a:solidFill>
                <a:latin typeface="Segoe 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39496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Локальная база SQLite, схема версии 23. Обновления версий проходят без потери прогресса и аккаунтов.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1" sz="1400">
                <a:solidFill>
                  <a:srgbClr val="A78BFA"/>
                </a:solidFill>
                <a:latin typeface="Segoe UI"/>
              </a:rPr>
              <a:t>•  subjects</a:t>
            </a:r>
            <a:r>
              <a:rPr b="0" sz="1400">
                <a:solidFill>
                  <a:srgbClr val="E2DFEE"/>
                </a:solidFill>
                <a:latin typeface="Segoe UI"/>
              </a:rPr>
              <a:t> — 11 предметов: математика, русский язык, история, физика, химия, биология, география, обществознание, информатика, английский язык, литература.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1" sz="1400">
                <a:solidFill>
                  <a:srgbClr val="A78BFA"/>
                </a:solidFill>
                <a:latin typeface="Segoe UI"/>
              </a:rPr>
              <a:t>•  tasks</a:t>
            </a:r>
            <a:r>
              <a:rPr b="0" sz="1400">
                <a:solidFill>
                  <a:srgbClr val="E2DFEE"/>
                </a:solidFill>
                <a:latin typeface="Segoe UI"/>
              </a:rPr>
              <a:t> — 209 встроенных заданий: предмет, тема, тип экзамена, сложность, вопрос, четыре варианта, верный ответ, разбор.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1" sz="1400">
                <a:solidFill>
                  <a:srgbClr val="A78BFA"/>
                </a:solidFill>
                <a:latin typeface="Segoe UI"/>
              </a:rPr>
              <a:t>•  theory</a:t>
            </a:r>
            <a:r>
              <a:rPr b="0" sz="1400">
                <a:solidFill>
                  <a:srgbClr val="E2DFEE"/>
                </a:solidFill>
                <a:latin typeface="Segoe UI"/>
              </a:rPr>
              <a:t> — 45 карточек-шпаргалок для повторения тем.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1" sz="1400">
                <a:solidFill>
                  <a:srgbClr val="A78BFA"/>
                </a:solidFill>
                <a:latin typeface="Segoe UI"/>
              </a:rPr>
              <a:t>•  attempts</a:t>
            </a:r>
            <a:r>
              <a:rPr b="0" sz="1400">
                <a:solidFill>
                  <a:srgbClr val="E2DFEE"/>
                </a:solidFill>
                <a:latin typeface="Segoe UI"/>
              </a:rPr>
              <a:t> — итоги попыток: очки, точность, дата — основа статистики и рейтинга класса.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1" sz="1400">
                <a:solidFill>
                  <a:srgbClr val="A78BFA"/>
                </a:solidFill>
                <a:latin typeface="Segoe UI"/>
              </a:rPr>
              <a:t>•  answers</a:t>
            </a:r>
            <a:r>
              <a:rPr b="0" sz="1400">
                <a:solidFill>
                  <a:srgbClr val="E2DFEE"/>
                </a:solidFill>
                <a:latin typeface="Segoe UI"/>
              </a:rPr>
              <a:t> — ответы по каждому заданию, нужны для анализа слабых тем и работы над ошибками.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1" sz="1400">
                <a:solidFill>
                  <a:srgbClr val="A78BFA"/>
                </a:solidFill>
                <a:latin typeface="Segoe UI"/>
              </a:rPr>
              <a:t>•  badges</a:t>
            </a:r>
            <a:r>
              <a:rPr b="0" sz="1400">
                <a:solidFill>
                  <a:srgbClr val="E2DFEE"/>
                </a:solidFill>
                <a:latin typeface="Segoe UI"/>
              </a:rPr>
              <a:t> — 22 достижения и дата выдачи.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1" sz="1400">
                <a:solidFill>
                  <a:srgbClr val="A78BFA"/>
                </a:solidFill>
                <a:latin typeface="Segoe UI"/>
              </a:rPr>
              <a:t>•  Кэш онлайн-заданий</a:t>
            </a:r>
            <a:r>
              <a:rPr b="0" sz="1400">
                <a:solidFill>
                  <a:srgbClr val="E2DFEE"/>
                </a:solidFill>
                <a:latin typeface="Segoe UI"/>
              </a:rPr>
              <a:t> — сохранённые реальные задания, чтобы квест работал без интернета.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5239512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500">
                <a:solidFill>
                  <a:srgbClr val="4FD8C8"/>
                </a:solidFill>
                <a:latin typeface="Segoe UI"/>
              </a:rPr>
              <a:t>ОСОБЕННОСТИ ХРАНЕНИЯ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Варианты ответов перемешиваются при каждой выдаче — списать ответ по позиции невозможно.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Поля читаются по именам колонок, а не по позиции, поэтому изменение схемы не сдвигает значения.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Профиль (имя, цель, палитра, серия дней, повторённые темы) хранится в SharedPreferences.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Роли: ученик, учитель, классный руководитель, администрация школы, разработчик, гость. Аккаунты создаются сразу, подтверждения не требуют.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1" sz="2800">
                <a:solidFill>
                  <a:srgbClr val="F3F1FA"/>
                </a:solidFill>
                <a:latin typeface="Segoe UI"/>
              </a:rPr>
              <a:t>Банк заданий и источники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4572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4FD8C8"/>
                </a:solidFill>
                <a:latin typeface="Segoe UI"/>
              </a:rPr>
              <a:t>Слайд 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908792" cy="27432"/>
          </a:xfrm>
          <a:prstGeom prst="rect">
            <a:avLst/>
          </a:prstGeom>
          <a:solidFill>
            <a:srgbClr val="1E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9E98B5"/>
                </a:solidFill>
                <a:latin typeface="Segoe U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39496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500">
                <a:solidFill>
                  <a:srgbClr val="4FD8C8"/>
                </a:solidFill>
                <a:latin typeface="Segoe UI"/>
              </a:rPr>
              <a:t>ТРИ ИСТОЧНИКА ЗАДАНИЙ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b="1" sz="1400">
                <a:solidFill>
                  <a:srgbClr val="A78BFA"/>
                </a:solidFill>
                <a:latin typeface="Segoe UI"/>
              </a:rPr>
              <a:t>Онлайн-банк реальных заданий</a:t>
            </a:r>
            <a:r>
              <a:rPr b="0" sz="1400">
                <a:solidFill>
                  <a:srgbClr val="E2DFEE"/>
                </a:solidFill>
                <a:latin typeface="Segoe UI"/>
              </a:rPr>
              <a:t> — настоящие задания ОГЭ и ЕГЭ по 9 предметам (математика, русский язык, история, физика, химия, биология, география, информатика, английский язык).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b="1" sz="1400">
                <a:solidFill>
                  <a:srgbClr val="A78BFA"/>
                </a:solidFill>
                <a:latin typeface="Segoe UI"/>
              </a:rPr>
              <a:t>Встроенный банк</a:t>
            </a:r>
            <a:r>
              <a:rPr b="0" sz="1400">
                <a:solidFill>
                  <a:srgbClr val="E2DFEE"/>
                </a:solidFill>
                <a:latin typeface="Segoe UI"/>
              </a:rPr>
              <a:t> — 209 заданий (154 базовых и 55 сложных уровня ОГЭ и ЕГЭ) по 11 предметам, работают офлайн.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1" sz="1400">
                <a:solidFill>
                  <a:srgbClr val="A78BFA"/>
                </a:solidFill>
                <a:latin typeface="Segoe UI"/>
              </a:rPr>
              <a:t>Генератор заданий</a:t>
            </a:r>
            <a:r>
              <a:rPr b="0" sz="1400">
                <a:solidFill>
                  <a:srgbClr val="E2DFEE"/>
                </a:solidFill>
                <a:latin typeface="Segoe UI"/>
              </a:rPr>
              <a:t> — числа подставляются в шаблон, ответ считает код, поэтому вопросы всегда верные и на русском, а количество не ограничено.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5239512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500">
                <a:solidFill>
                  <a:srgbClr val="4FD8C8"/>
                </a:solidFill>
                <a:latin typeface="Segoe UI"/>
              </a:rPr>
              <a:t>КАК ЭТО РАБОТАЕТ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Онлайн-задания запрашиваются в момент решения и не хранятся у разработчика как чужой банк.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У каждого реального задания показывается ссылка на источник.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Постоянный кэш: скачанные задания сохраняются, квест по реальным заданиям работает и без интернета, с подписью «сохранённые задания».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Если по выбранному уровню заданий нет, приложение само берёт второй уровень.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Пройденные задания не повторяются, пока в банке есть нетронутые.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Свой источник подключается через интерфейс TaskSource — приложение не привязано к одному банку.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1" sz="2800">
                <a:solidFill>
                  <a:srgbClr val="F3F1FA"/>
                </a:solidFill>
                <a:latin typeface="Segoe UI"/>
              </a:rPr>
              <a:t>Режимы подготовки и мотивация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4572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4FD8C8"/>
                </a:solidFill>
                <a:latin typeface="Segoe UI"/>
              </a:rPr>
              <a:t>Слайд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908792" cy="27432"/>
          </a:xfrm>
          <a:prstGeom prst="rect">
            <a:avLst/>
          </a:prstGeom>
          <a:solidFill>
            <a:srgbClr val="1E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9E98B5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39496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500">
                <a:solidFill>
                  <a:srgbClr val="4FD8C8"/>
                </a:solidFill>
                <a:latin typeface="Segoe UI"/>
              </a:rPr>
              <a:t>РЕЖИМЫ ПОДГОТОВКИ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Квест с таймером: очки за верные ответы и разбор после каждой задачи.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«Задание дня» — одинаковый набор заданий на всех по дате.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Пробный экзамен на 20 заданий и режим экзамена.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Работа над ошибками: приложение собирает задания, в которых ученик ошибался.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Адаптивная сложность: после точности 80% и выше задания усложняются, после 40% и ниже — упрощаются.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Повторение тем по 45 карточкам-шпаргалкам.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5239512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500">
                <a:solidFill>
                  <a:srgbClr val="4FD8C8"/>
                </a:solidFill>
                <a:latin typeface="Segoe UI"/>
              </a:rPr>
              <a:t>ИГРОВАЯ МЕХАНИКА И ПРОФИЛЬ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Очки, серия дней, рейтинг класса и цель на неделю.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22 достижения, включая сложные.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7 цветовых тем приложения.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Цвет ника и префиксы; профиль пользователя оформлен как в мессенджере.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Уведомления о событиях: достижения, серия, задания учителя.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Квесты, обучение, результаты, достижения и профиль собраны в одном приложении — ученику не нужно держать пять разных сервисов.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1" sz="2800">
                <a:solidFill>
                  <a:srgbClr val="F3F1FA"/>
                </a:solidFill>
                <a:latin typeface="Segoe UI"/>
              </a:rPr>
              <a:t>Роли пользователей и работа учителя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4572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4FD8C8"/>
                </a:solidFill>
                <a:latin typeface="Segoe UI"/>
              </a:rPr>
              <a:t>Слайд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908792" cy="27432"/>
          </a:xfrm>
          <a:prstGeom prst="rect">
            <a:avLst/>
          </a:prstGeom>
          <a:solidFill>
            <a:srgbClr val="1E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9E98B5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39496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500">
                <a:solidFill>
                  <a:srgbClr val="4FD8C8"/>
                </a:solidFill>
                <a:latin typeface="Segoe UI"/>
              </a:rPr>
              <a:t>РОЛИ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Ученик, учитель, классный руководитель, администрация школы, разработчик, гость. Аккаунты создаются сразу, подтверждения не требуют.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500">
                <a:solidFill>
                  <a:srgbClr val="4FD8C8"/>
                </a:solidFill>
                <a:latin typeface="Segoe UI"/>
              </a:rPr>
              <a:t>УЧИТЕЛЮ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Выдача задания выбранному классу.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Отчёты по классу с выгрузкой: кто прошёл, результат, оценка, очки, дата.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Список класса.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500"/>
              </a:spcAft>
            </a:pPr>
            <a:r>
              <a:rPr b="1" sz="1500">
                <a:solidFill>
                  <a:srgbClr val="4FD8C8"/>
                </a:solidFill>
                <a:latin typeface="Segoe UI"/>
              </a:rPr>
              <a:t>РОДИТЕЛЯМ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Отчёт о прогрессе: точность, серия дней, очки, слабые темы и результат последнего квеста.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5239512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500">
                <a:solidFill>
                  <a:srgbClr val="4FD8C8"/>
                </a:solidFill>
                <a:latin typeface="Segoe UI"/>
              </a:rPr>
              <a:t>ОФЛАЙН-РАБОТА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6 из 11 предметов полностью встроены и работают без интернета.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Онлайн-банк реальных заданий кешируется: квест по ним открывается и без сети.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При отсутствии сети приложение честно сообщает, что набор встроенный, а не выдаёт ошибку.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500"/>
              </a:spcAft>
            </a:pPr>
            <a:r>
              <a:rPr b="1" sz="1500">
                <a:solidFill>
                  <a:srgbClr val="4FD8C8"/>
                </a:solidFill>
                <a:latin typeface="Segoe UI"/>
              </a:rPr>
              <a:t>ЧЕСТНОЕ ОГРАНИЧЕНИЕ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Приложение локальное: у него нет общего сервера, поэтому функции между разными устройствами (дуэли, соревнование школ) пока не реализованы — они вынесены в план развития.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1" sz="2800">
                <a:solidFill>
                  <a:srgbClr val="F3F1FA"/>
                </a:solidFill>
                <a:latin typeface="Segoe UI"/>
              </a:rPr>
              <a:t>Результаты тестирования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4572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4FD8C8"/>
                </a:solidFill>
                <a:latin typeface="Segoe UI"/>
              </a:rPr>
              <a:t>Слайд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908792" cy="27432"/>
          </a:xfrm>
          <a:prstGeom prst="rect">
            <a:avLst/>
          </a:prstGeom>
          <a:solidFill>
            <a:srgbClr val="1E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9E98B5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39496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500">
                <a:solidFill>
                  <a:srgbClr val="4FD8C8"/>
                </a:solidFill>
                <a:latin typeface="Segoe UI"/>
              </a:rPr>
              <a:t>ПРОВЕРКА НА ЭМУЛЯТОРЕ ANDROID 14 (x86_64)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Пройдены все 15 активностей приложения — без единого падения.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Проверены ключевые сценарии: регистрация, квест с реальным заданием ОГЭ, работа без интернета (кэш), результат квеста, шпаргалки, уведомления, профиль пользователя, выдача задания классу.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Приложение собиралось, устанавливалось и запускалось как обычная пользовательская сборка.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5239512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500">
                <a:solidFill>
                  <a:srgbClr val="4FD8C8"/>
                </a:solidFill>
                <a:latin typeface="Segoe UI"/>
              </a:rPr>
              <a:t>АУДИТ КОДА: 7 ИСПРАВЛЕННЫХ ОШИБОК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Класс хранился как «9А», буква класса терялась: учитель не видел свой класс, а задание уходило на всю параллель. Исправлено в трёх местах.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«Работа над ошибками» открывалась пустой — счётчик учитывал записи без задания.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Ученику 10–11 класса выдавались задания ОГЭ — теперь уровень определяется по классу.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Итог: три ошибки с реальными последствиями для школы исправлены, версия 4.0.0 стабильна.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1" sz="2800">
                <a:solidFill>
                  <a:srgbClr val="F3F1FA"/>
                </a:solidFill>
                <a:latin typeface="Segoe UI"/>
              </a:rPr>
              <a:t>Использованные библиотеки и фреймворки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4572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4FD8C8"/>
                </a:solidFill>
                <a:latin typeface="Segoe UI"/>
              </a:rPr>
              <a:t>Слайд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908792" cy="27432"/>
          </a:xfrm>
          <a:prstGeom prst="rect">
            <a:avLst/>
          </a:prstGeom>
          <a:solidFill>
            <a:srgbClr val="1E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9E98B5"/>
                </a:solidFill>
                <a:latin typeface="Segoe U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1" sz="1400">
                <a:solidFill>
                  <a:srgbClr val="4FD8C8"/>
                </a:solidFill>
                <a:latin typeface="Segoe UI"/>
              </a:rPr>
              <a:t>Компонент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325880"/>
            <a:ext cx="76169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1" sz="1400">
                <a:solidFill>
                  <a:srgbClr val="4FD8C8"/>
                </a:solidFill>
                <a:latin typeface="Segoe UI"/>
              </a:rPr>
              <a:t>Что использовано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39112"/>
            <a:ext cx="10908792" cy="18288"/>
          </a:xfrm>
          <a:prstGeom prst="rect">
            <a:avLst/>
          </a:prstGeom>
          <a:solidFill>
            <a:srgbClr val="1E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1" sz="1400">
                <a:solidFill>
                  <a:srgbClr val="F3F1FA"/>
                </a:solidFill>
                <a:latin typeface="Segoe UI"/>
              </a:rPr>
              <a:t>Язык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709928"/>
            <a:ext cx="76169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Kotlin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51175"/>
            <a:ext cx="10908792" cy="18288"/>
          </a:xfrm>
          <a:prstGeom prst="rect">
            <a:avLst/>
          </a:prstGeom>
          <a:solidFill>
            <a:srgbClr val="1E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21991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1" sz="1400">
                <a:solidFill>
                  <a:srgbClr val="F3F1FA"/>
                </a:solidFill>
                <a:latin typeface="Segoe UI"/>
              </a:rPr>
              <a:t>Платформа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221991"/>
            <a:ext cx="76169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Android: minSdk 24 (Android 7.0), targetSdk и compileSdk 34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63239"/>
            <a:ext cx="10908792" cy="18288"/>
          </a:xfrm>
          <a:prstGeom prst="rect">
            <a:avLst/>
          </a:prstGeom>
          <a:solidFill>
            <a:srgbClr val="1E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73405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1" sz="1400">
                <a:solidFill>
                  <a:srgbClr val="F3F1FA"/>
                </a:solidFill>
                <a:latin typeface="Segoe UI"/>
              </a:rPr>
              <a:t>Интерфейс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734056"/>
            <a:ext cx="76169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Material 3, XML-разметка экранов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75303"/>
            <a:ext cx="10908792" cy="18288"/>
          </a:xfrm>
          <a:prstGeom prst="rect">
            <a:avLst/>
          </a:prstGeom>
          <a:solidFill>
            <a:srgbClr val="1E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461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1" sz="1400">
                <a:solidFill>
                  <a:srgbClr val="F3F1FA"/>
                </a:solidFill>
                <a:latin typeface="Segoe UI"/>
              </a:rPr>
              <a:t>Сборка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246120"/>
            <a:ext cx="76169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Gradle 8.2, JDK 17, Android Studio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87368"/>
            <a:ext cx="10908792" cy="18288"/>
          </a:xfrm>
          <a:prstGeom prst="rect">
            <a:avLst/>
          </a:prstGeom>
          <a:solidFill>
            <a:srgbClr val="1E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58183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1" sz="1400">
                <a:solidFill>
                  <a:srgbClr val="F3F1FA"/>
                </a:solidFill>
                <a:latin typeface="Segoe UI"/>
              </a:rPr>
              <a:t>Хранение данных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758183"/>
            <a:ext cx="76169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SQLite, схема версии 23; SharedPreferences для профиля и настроек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599432"/>
            <a:ext cx="10908792" cy="18288"/>
          </a:xfrm>
          <a:prstGeom prst="rect">
            <a:avLst/>
          </a:prstGeom>
          <a:solidFill>
            <a:srgbClr val="1E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27024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1" sz="1400">
                <a:solidFill>
                  <a:srgbClr val="F3F1FA"/>
                </a:solidFill>
                <a:latin typeface="Segoe UI"/>
              </a:rPr>
              <a:t>Сеть и данные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4270248"/>
            <a:ext cx="76169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HTTP-клиент и разбор данных онлайн-банка заданий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111496"/>
            <a:ext cx="10908792" cy="18288"/>
          </a:xfrm>
          <a:prstGeom prst="rect">
            <a:avLst/>
          </a:prstGeom>
          <a:solidFill>
            <a:srgbClr val="1E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78231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1" sz="1400">
                <a:solidFill>
                  <a:srgbClr val="F3F1FA"/>
                </a:solidFill>
                <a:latin typeface="Segoe UI"/>
              </a:rPr>
              <a:t>Источники заданий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4782312"/>
            <a:ext cx="76169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Интерфейс TaskSource: онлайн-банк, встроенный банк, генератор заданий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623560"/>
            <a:ext cx="10908792" cy="18288"/>
          </a:xfrm>
          <a:prstGeom prst="rect">
            <a:avLst/>
          </a:prstGeom>
          <a:solidFill>
            <a:srgbClr val="1E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29437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1" sz="1400">
                <a:solidFill>
                  <a:srgbClr val="F3F1FA"/>
                </a:solidFill>
                <a:latin typeface="Segoe UI"/>
              </a:rPr>
              <a:t>Версии кода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5294376"/>
            <a:ext cx="76169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Git и GitHub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135624"/>
            <a:ext cx="10908792" cy="18288"/>
          </a:xfrm>
          <a:prstGeom prst="rect">
            <a:avLst/>
          </a:prstGeom>
          <a:solidFill>
            <a:srgbClr val="1E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806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1" sz="1400">
                <a:solidFill>
                  <a:srgbClr val="F3F1FA"/>
                </a:solidFill>
                <a:latin typeface="Segoe UI"/>
              </a:rPr>
              <a:t>Тестирование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5806440"/>
            <a:ext cx="76169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Эмулятор Android 14 (x86_64), прогон 15 активностей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31850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3F1FA"/>
                </a:solidFill>
              </a:rPr>
              <a:t>Инструменты ИИ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0" y="6318504"/>
            <a:ext cx="6492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E2DFEE"/>
                </a:solidFill>
              </a:rPr>
              <a:t>ИИ-ассистенты: код, аудит ошибок, документация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1" sz="2800">
                <a:solidFill>
                  <a:srgbClr val="F3F1FA"/>
                </a:solidFill>
                <a:latin typeface="Segoe UI"/>
              </a:rPr>
              <a:t>План развития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4572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4FD8C8"/>
                </a:solidFill>
                <a:latin typeface="Segoe UI"/>
              </a:rPr>
              <a:t>Слайд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42415"/>
            <a:ext cx="10908792" cy="27432"/>
          </a:xfrm>
          <a:prstGeom prst="rect">
            <a:avLst/>
          </a:prstGeom>
          <a:solidFill>
            <a:srgbClr val="1E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b="0" sz="1400">
                <a:solidFill>
                  <a:srgbClr val="9E98B5"/>
                </a:solidFill>
                <a:latin typeface="Segoe U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39496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500">
                <a:solidFill>
                  <a:srgbClr val="4FD8C8"/>
                </a:solidFill>
                <a:latin typeface="Segoe UI"/>
              </a:rPr>
              <a:t>БЛИЖАЙШИЕ ШАГИ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Второй онлайн-источник заданий — резервный банк на случай, если основной недоступен.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Проверка развёрнутого ответа по критериям: сейчас оценивается только краткий ответ.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Таймер на всё задание онлайн-квеста, а не только бонус за скорость.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Расширение банка заданий и подключение новых предметов: обществознание и литература пока доступны только во встроенном наборе.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5239512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1" sz="1500">
                <a:solidFill>
                  <a:srgbClr val="4FD8C8"/>
                </a:solidFill>
                <a:latin typeface="Segoe UI"/>
              </a:rPr>
              <a:t>ЧТО ПОЯВИТСЯ ВМЕСТЕ С ОБЩИМ СЕРВЕРОМ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Сейчас приложение локальное, у него нет общего сервера, поэтому функции между разными устройствами не реализованы. Они появятся после подключения сервера: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дуэли учеников и соревнования школ между разными устройствами;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единый аккаунт и синхронизация прогресса между устройствами;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•  сводная статистика школы для администрации.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b="0" sz="1400">
                <a:solidFill>
                  <a:srgbClr val="E2DFEE"/>
                </a:solidFill>
                <a:latin typeface="Segoe UI"/>
              </a:rPr>
              <a:t>До этого приложение остаётся полностью автономным и работает без интернета — это его сильная сторона, а не временное решение.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